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548640"/>
          </a:xfrm>
          <a:prstGeom prst="roundRect">
            <a:avLst/>
          </a:prstGeom>
          <a:noFill/>
          <a:ln w="254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F0A2C"/>
                </a:solidFill>
                <a:latin typeface="微软雅黑"/>
              </a:defRPr>
            </a:pPr>
            <a:r>
              <a:t>◆  GENESIS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AI 微游戏生成器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700"/>
                </a:solidFill>
                <a:latin typeface="微软雅黑"/>
              </a:defRPr>
            </a:pPr>
            <a:r>
              <a:t>华为游戏中心 × 鸿蒙元服务  全方案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931920"/>
            <a:ext cx="2743200" cy="254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DC4"/>
                </a:solidFill>
                <a:latin typeface="微软雅黑"/>
              </a:defRPr>
            </a:pPr>
            <a:r>
              <a:t>Version 2.0 MVP  |  全方位升级方案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游戏模板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智能触发器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微软雅黑"/>
              </a:defRPr>
            </a:pPr>
            <a:r>
              <a:t>363+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测试用例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微软雅黑"/>
              </a:defRPr>
            </a:pPr>
            <a:r>
              <a:t>94%+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覆盖率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微软雅黑"/>
              </a:defRPr>
            </a:pPr>
            <a:r>
              <a:t>让每个等待时刻都变成游戏时刻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3716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产品概览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定位、价值主张、用户场景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74520"/>
            <a:ext cx="5943600" cy="6350"/>
          </a:xfrm>
          <a:prstGeom prst="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23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分层架构、核心引擎、游戏模板、触发器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97480"/>
            <a:ext cx="5943600" cy="6350"/>
          </a:xfrm>
          <a:prstGeom prst="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992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AI 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46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画像系统、推荐引擎、动态难度、场景感知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520440"/>
            <a:ext cx="5943600" cy="6350"/>
          </a:xfrm>
          <a:prstGeom prst="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221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鸿蒙集成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69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元服务架构、服务卡片、ArkTS桥接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343400"/>
            <a:ext cx="5943600" cy="6350"/>
          </a:xfrm>
          <a:prstGeom prst="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548640" cy="54864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90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实现成果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工程成果、Demo展示、CI/CD、性能指标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166360"/>
            <a:ext cx="5943600" cy="6350"/>
          </a:xfrm>
          <a:prstGeom prst="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681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413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发布计划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里程碑、上架流程、监控运维、商业化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5989320"/>
            <a:ext cx="5943600" cy="6350"/>
          </a:xfrm>
          <a:prstGeom prst="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55"/>
                </a:solidFill>
                <a:latin typeface="微软雅黑"/>
              </a:defRPr>
            </a:pPr>
            <a:r>
              <a:t>PART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产品概览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微软雅黑"/>
              </a:defRPr>
            </a:pPr>
            <a:r>
              <a:t>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4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产品定位与愿景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10972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微软雅黑"/>
              </a:defRPr>
            </a:pPr>
            <a:r>
              <a:t>"让每个等待时刻都变成游戏时刻"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560320" cy="25603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微游戏引擎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15种即开即玩的小游戏</a:t>
            </a:r>
            <a:br/>
            <a:r>
              <a:t>平均&lt;100KB，零安装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560320"/>
            <a:ext cx="2560320" cy="25603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AI智能驱动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用户画像 + 场景感知</a:t>
            </a:r>
            <a:br/>
            <a:r>
              <a:t>千人千面的个性化体验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560320" cy="25603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鸿蒙元服务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免安装服务卡片</a:t>
            </a:r>
            <a:br/>
            <a:r>
              <a:t>无缝嵌入华为游戏中心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微软雅黑"/>
              </a:defRPr>
            </a:pPr>
            <a:r>
              <a:t>Genesis = 微型游戏引擎 + AI个性化 + 鸿蒙生态  →  打造"零等待"游戏体验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5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核心价值主张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560320" cy="21031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CDC4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微软雅黑"/>
              </a:defRPr>
            </a:pPr>
            <a:r>
              <a:t>零安装体验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基于鸿蒙元服务架构</a:t>
            </a:r>
            <a:br/>
            <a:r>
              <a:t>无需下载安装包</a:t>
            </a:r>
            <a:br/>
            <a:r>
              <a:t>点击即玩，退出即走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097280"/>
            <a:ext cx="2560320" cy="21031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0A2C"/>
                </a:solidFill>
                <a:latin typeface="微软雅黑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微软雅黑"/>
              </a:defRPr>
            </a:pPr>
            <a:r>
              <a:t>AI智能驱动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91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6维用户画像系统</a:t>
            </a:r>
            <a:br/>
            <a:r>
              <a:t>实时动态难度调节</a:t>
            </a:r>
            <a:br/>
            <a:r>
              <a:t>个性化游戏推荐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2560320" cy="21031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微软雅黑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场景触发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9大智能触发器</a:t>
            </a:r>
            <a:br/>
            <a:r>
              <a:t>时间/行为/情绪感知</a:t>
            </a:r>
            <a:br/>
            <a:r>
              <a:t>精准推送合适游戏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2560320" cy="21031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CDC4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微软雅黑"/>
              </a:defRPr>
            </a:pPr>
            <a:r>
              <a:t>持续进化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20局学习曲线</a:t>
            </a:r>
            <a:br/>
            <a:r>
              <a:t>画像实时进化</a:t>
            </a:r>
            <a:br/>
            <a:r>
              <a:t>越玩越懂你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474720"/>
            <a:ext cx="2560320" cy="21031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0A2C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微软雅黑"/>
              </a:defRPr>
            </a:pPr>
            <a:r>
              <a:t>数据闭环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行为采集→画像更新</a:t>
            </a:r>
            <a:br/>
            <a:r>
              <a:t>→推荐优化→体验提升</a:t>
            </a:r>
            <a:br/>
            <a:r>
              <a:t>全链路数据驱动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74720"/>
            <a:ext cx="2560320" cy="21031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微软雅黑"/>
              </a:defRPr>
            </a:pPr>
            <a: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生态整合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华为游戏中心入口</a:t>
            </a:r>
            <a:br/>
            <a:r>
              <a:t>服务卡片桌面直达</a:t>
            </a:r>
            <a:br/>
            <a:r>
              <a:t>分布式跨设备体验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6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目标用户与场景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🎯 核心用户画像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7160" cy="3657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游戏中心活跃用户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下载/更新游戏频繁，等待时间多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37160" cy="3657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休闲游戏爱好者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碎片化时间，偏好轻量体验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37160" cy="3657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鸿蒙生态用户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HarmonyOS设备，习惯元服务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📱 典型使用场景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⏬ 下载等待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大游戏下载时推送小游戏消磨时间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46304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😔 连败安慰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连续失败后推送放松类小游戏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05740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0756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🌙 深夜关怀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286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深夜时段推送助眠呼吸游戏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05740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0756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☀️ 早安问候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86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早晨推送益智类游戏唤醒大脑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65176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670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🚇 通勤陪伴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880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检测移动状态推送快速上手游戏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265176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670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🌧️ 雨天治愈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880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天气API检测雨天推送治愈系游戏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24612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264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👋 卸载挽回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用户卸载游戏时推送挽留小游戏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246120"/>
            <a:ext cx="201168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264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👥 好友在线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好友在线时推送社交互动小游戏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用户旅程</a:t>
            </a:r>
          </a:p>
        </p:txBody>
      </p:sp>
      <p:sp>
        <p:nvSpPr>
          <p:cNvPr id="42" name="Chevron 41"/>
          <p:cNvSpPr/>
          <p:nvPr/>
        </p:nvSpPr>
        <p:spPr>
          <a:xfrm>
            <a:off x="365760" y="4846320"/>
            <a:ext cx="1371600" cy="457200"/>
          </a:xfrm>
          <a:prstGeom prst="chevron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触发场景</a:t>
            </a:r>
          </a:p>
        </p:txBody>
      </p:sp>
      <p:sp>
        <p:nvSpPr>
          <p:cNvPr id="43" name="Chevron 42"/>
          <p:cNvSpPr/>
          <p:nvPr/>
        </p:nvSpPr>
        <p:spPr>
          <a:xfrm>
            <a:off x="1783080" y="4846320"/>
            <a:ext cx="1371600" cy="457200"/>
          </a:xfrm>
          <a:prstGeom prst="chevron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推送卡片</a:t>
            </a:r>
          </a:p>
        </p:txBody>
      </p:sp>
      <p:sp>
        <p:nvSpPr>
          <p:cNvPr id="44" name="Chevron 43"/>
          <p:cNvSpPr/>
          <p:nvPr/>
        </p:nvSpPr>
        <p:spPr>
          <a:xfrm>
            <a:off x="3200400" y="4846320"/>
            <a:ext cx="1371600" cy="457200"/>
          </a:xfrm>
          <a:prstGeom prst="chevron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点击即玩</a:t>
            </a:r>
          </a:p>
        </p:txBody>
      </p:sp>
      <p:sp>
        <p:nvSpPr>
          <p:cNvPr id="45" name="Chevron 44"/>
          <p:cNvSpPr/>
          <p:nvPr/>
        </p:nvSpPr>
        <p:spPr>
          <a:xfrm>
            <a:off x="4617720" y="4846320"/>
            <a:ext cx="1371600" cy="457200"/>
          </a:xfrm>
          <a:prstGeom prst="chevron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AI个性化</a:t>
            </a:r>
          </a:p>
        </p:txBody>
      </p:sp>
      <p:sp>
        <p:nvSpPr>
          <p:cNvPr id="46" name="Chevron 45"/>
          <p:cNvSpPr/>
          <p:nvPr/>
        </p:nvSpPr>
        <p:spPr>
          <a:xfrm>
            <a:off x="6035040" y="4846320"/>
            <a:ext cx="1371600" cy="457200"/>
          </a:xfrm>
          <a:prstGeom prst="chevron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数据反馈</a:t>
            </a:r>
          </a:p>
        </p:txBody>
      </p:sp>
      <p:sp>
        <p:nvSpPr>
          <p:cNvPr id="47" name="Chevron 46"/>
          <p:cNvSpPr/>
          <p:nvPr/>
        </p:nvSpPr>
        <p:spPr>
          <a:xfrm>
            <a:off x="7452360" y="4846320"/>
            <a:ext cx="1371600" cy="457200"/>
          </a:xfrm>
          <a:prstGeom prst="chevron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画像进化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55"/>
                </a:solidFill>
                <a:latin typeface="微软雅黑"/>
              </a:defRPr>
            </a:pPr>
            <a:r>
              <a:t>PART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微软雅黑"/>
              </a:defRPr>
            </a:pPr>
            <a: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8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系统架构图  ·  分层架构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822960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0A2C"/>
                </a:solidFill>
                <a:latin typeface="微软雅黑"/>
              </a:defRPr>
            </a:pPr>
            <a:r>
              <a:t>HarmonyOS 集成层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EntryAbility | 服务卡片 | ArkTS Bridge | 分布式能力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822960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BB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73152" cy="640080"/>
          </a:xfrm>
          <a:prstGeom prst="rect">
            <a:avLst/>
          </a:prstGeom>
          <a:solidFill>
            <a:srgbClr val="BB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3333"/>
                </a:solidFill>
                <a:latin typeface="微软雅黑"/>
              </a:defRPr>
            </a:pPr>
            <a:r>
              <a:t>触发器层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下载等待 | 连败安慰 | 深夜关怀 | 早安问候 | 通勤陪伴 | 无聊检测 | 卸载挽回 | 雨天治愈 | 好友在线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822960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86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73152" cy="640080"/>
          </a:xfrm>
          <a:prstGeom prst="rect">
            <a:avLst/>
          </a:prstGeom>
          <a:solidFill>
            <a:srgbClr val="886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6622"/>
                </a:solidFill>
                <a:latin typeface="微软雅黑"/>
              </a:defRPr>
            </a:pPr>
            <a:r>
              <a:t>模板层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614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消除 | 节奏 | 翻牌 | 呼吸 | 绘画 | 颜色 | 算术 | 泡泡 | 单词 | 追光 | 2048 | 贪吃蛇 | 弹球 | 打地鼠 | 接金币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822960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73152" cy="6400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核心引擎层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930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MicroGameEngine | TriggerEngine | PersonalizationEngine | TemplateFactory | DifficultyManager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822960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73152" cy="6400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AI 模型层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24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UserProfile | TasteProfile | DifficultyCurve | SceneContext | RecommendationEngine | LearningTracker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822960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73152" cy="640080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6699"/>
                </a:solidFill>
                <a:latin typeface="微软雅黑"/>
              </a:defRPr>
            </a:pPr>
            <a:r>
              <a:t>数据层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56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TypeScript 5.9.3 | Event System | State Management | Analytics |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1691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微软雅黑"/>
              </a:defRPr>
            </a:pPr>
            <a:r>
              <a:t>▲ 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微软雅黑"/>
              </a:defRPr>
            </a:pPr>
            <a:r>
              <a:t>▲ 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154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微软雅黑"/>
              </a:defRPr>
            </a:pPr>
            <a:r>
              <a:t>▲ 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886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微软雅黑"/>
              </a:defRPr>
            </a:pPr>
            <a:r>
              <a:t>▲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617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微软雅黑"/>
              </a:defRPr>
            </a:pPr>
            <a:r>
              <a:t>▲ 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13716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AA"/>
                </a:solidFill>
                <a:latin typeface="微软雅黑"/>
              </a:defRPr>
            </a:pPr>
            <a:r>
              <a:t>承</a:t>
            </a:r>
            <a:br/>
            <a:r>
              <a:t>上</a:t>
            </a:r>
            <a:br/>
            <a:r>
              <a:t>启</a:t>
            </a:r>
            <a:br/>
            <a:r>
              <a:t>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9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核心引擎模块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011680" cy="47548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011680" cy="82296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MicroGameEngine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游戏引擎核心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03120"/>
            <a:ext cx="109728" cy="109728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统一游戏生命周期管理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606040"/>
            <a:ext cx="109728" cy="109728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start() → play() → pause() → end()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108960"/>
            <a:ext cx="109728" cy="109728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事件驱动的状态机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611880"/>
            <a:ext cx="109728" cy="109728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分数/时间/进度统一接口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1097280"/>
            <a:ext cx="2011680" cy="47548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1097280"/>
            <a:ext cx="2011680" cy="8229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TriggerEngine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智能触发引擎</a:t>
            </a:r>
          </a:p>
        </p:txBody>
      </p:sp>
      <p:sp>
        <p:nvSpPr>
          <p:cNvPr id="22" name="Oval 21"/>
          <p:cNvSpPr/>
          <p:nvPr/>
        </p:nvSpPr>
        <p:spPr>
          <a:xfrm>
            <a:off x="2651760" y="210312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057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9种场景触发器管理</a:t>
            </a:r>
          </a:p>
        </p:txBody>
      </p:sp>
      <p:sp>
        <p:nvSpPr>
          <p:cNvPr id="24" name="Oval 23"/>
          <p:cNvSpPr/>
          <p:nvPr/>
        </p:nvSpPr>
        <p:spPr>
          <a:xfrm>
            <a:off x="2651760" y="260604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560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多信号融合决策</a:t>
            </a:r>
          </a:p>
        </p:txBody>
      </p:sp>
      <p:sp>
        <p:nvSpPr>
          <p:cNvPr id="26" name="Oval 25"/>
          <p:cNvSpPr/>
          <p:nvPr/>
        </p:nvSpPr>
        <p:spPr>
          <a:xfrm>
            <a:off x="2651760" y="310896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优先级排序与冲突解决</a:t>
            </a:r>
          </a:p>
        </p:txBody>
      </p:sp>
      <p:sp>
        <p:nvSpPr>
          <p:cNvPr id="28" name="Oval 27"/>
          <p:cNvSpPr/>
          <p:nvPr/>
        </p:nvSpPr>
        <p:spPr>
          <a:xfrm>
            <a:off x="2651760" y="361188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触发频率控制与冷却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2011680" cy="47548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1097280"/>
            <a:ext cx="2011680" cy="8229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PersonalizationEngine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个性化引擎</a:t>
            </a:r>
          </a:p>
        </p:txBody>
      </p:sp>
      <p:sp>
        <p:nvSpPr>
          <p:cNvPr id="34" name="Oval 33"/>
          <p:cNvSpPr/>
          <p:nvPr/>
        </p:nvSpPr>
        <p:spPr>
          <a:xfrm>
            <a:off x="4800600" y="2103120"/>
            <a:ext cx="109728" cy="109728"/>
          </a:xfrm>
          <a:prstGeom prst="ellipse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057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6维用户画像构建</a:t>
            </a:r>
          </a:p>
        </p:txBody>
      </p:sp>
      <p:sp>
        <p:nvSpPr>
          <p:cNvPr id="36" name="Oval 35"/>
          <p:cNvSpPr/>
          <p:nvPr/>
        </p:nvSpPr>
        <p:spPr>
          <a:xfrm>
            <a:off x="4800600" y="2606040"/>
            <a:ext cx="109728" cy="109728"/>
          </a:xfrm>
          <a:prstGeom prst="ellipse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2560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实时推荐算法</a:t>
            </a:r>
          </a:p>
        </p:txBody>
      </p:sp>
      <p:sp>
        <p:nvSpPr>
          <p:cNvPr id="38" name="Oval 37"/>
          <p:cNvSpPr/>
          <p:nvPr/>
        </p:nvSpPr>
        <p:spPr>
          <a:xfrm>
            <a:off x="4800600" y="3108960"/>
            <a:ext cx="109728" cy="109728"/>
          </a:xfrm>
          <a:prstGeom prst="ellipse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动态难度调节</a:t>
            </a:r>
          </a:p>
        </p:txBody>
      </p:sp>
      <p:sp>
        <p:nvSpPr>
          <p:cNvPr id="40" name="Oval 39"/>
          <p:cNvSpPr/>
          <p:nvPr/>
        </p:nvSpPr>
        <p:spPr>
          <a:xfrm>
            <a:off x="4800600" y="3611880"/>
            <a:ext cx="109728" cy="109728"/>
          </a:xfrm>
          <a:prstGeom prst="ellipse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学习曲线追踪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1097280"/>
            <a:ext cx="2011680" cy="47548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12280" y="1097280"/>
            <a:ext cx="2011680" cy="82296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TemplateFactory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模板工厂</a:t>
            </a:r>
          </a:p>
        </p:txBody>
      </p:sp>
      <p:sp>
        <p:nvSpPr>
          <p:cNvPr id="46" name="Oval 45"/>
          <p:cNvSpPr/>
          <p:nvPr/>
        </p:nvSpPr>
        <p:spPr>
          <a:xfrm>
            <a:off x="6949440" y="2103120"/>
            <a:ext cx="109728" cy="109728"/>
          </a:xfrm>
          <a:prstGeom prst="ellipse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2057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15种游戏模板注册</a:t>
            </a:r>
          </a:p>
        </p:txBody>
      </p:sp>
      <p:sp>
        <p:nvSpPr>
          <p:cNvPr id="48" name="Oval 47"/>
          <p:cNvSpPr/>
          <p:nvPr/>
        </p:nvSpPr>
        <p:spPr>
          <a:xfrm>
            <a:off x="6949440" y="2606040"/>
            <a:ext cx="109728" cy="109728"/>
          </a:xfrm>
          <a:prstGeom prst="ellipse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2560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配置驱动的模板实例化</a:t>
            </a:r>
          </a:p>
        </p:txBody>
      </p:sp>
      <p:sp>
        <p:nvSpPr>
          <p:cNvPr id="50" name="Oval 49"/>
          <p:cNvSpPr/>
          <p:nvPr/>
        </p:nvSpPr>
        <p:spPr>
          <a:xfrm>
            <a:off x="6949440" y="3108960"/>
            <a:ext cx="109728" cy="109728"/>
          </a:xfrm>
          <a:prstGeom prst="ellipse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主题/参数动态注入</a:t>
            </a:r>
          </a:p>
        </p:txBody>
      </p:sp>
      <p:sp>
        <p:nvSpPr>
          <p:cNvPr id="52" name="Oval 51"/>
          <p:cNvSpPr/>
          <p:nvPr/>
        </p:nvSpPr>
        <p:spPr>
          <a:xfrm>
            <a:off x="6949440" y="3611880"/>
            <a:ext cx="109728" cy="109728"/>
          </a:xfrm>
          <a:prstGeom prst="ellipse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模板版本管理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10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15个游戏模板矩阵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6126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914400"/>
                <a:gridCol w="1097280"/>
                <a:gridCol w="109728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游戏名称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难度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平均时长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触发场景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消除方块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益智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★☆☆☆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30s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下载等待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节奏大师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音乐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45s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无聊检测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翻牌配对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记忆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★☆☆☆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25s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早安问候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呼吸冥想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放松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☆☆☆☆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60s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深夜/连败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绘画挑战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创意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★★☆☆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40s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通勤陪伴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颜色识别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反应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★☆☆☆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20s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下载等待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速算挑战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益智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★★★☆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30s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早安问候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泡泡射手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休闲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★☆☆☆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35s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无聊检测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单词拼图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教育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★★☆☆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40s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早安问候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追光游戏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反应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25s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下载等待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2048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益智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★★★☆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60s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通勤陪伴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贪吃蛇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经典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45s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无聊检测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弹球大师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动作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★★★☆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35s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好友在线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打地鼠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反应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30s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雨天治愈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接金币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休闲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★☆☆☆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25s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卸载挽回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11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9大智能触发器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F0A2C"/>
                </a:solidFill>
                <a:latin typeface="微软雅黑"/>
              </a:defRPr>
            </a:pPr>
            <a:r>
              <a:t>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下载等待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43000"/>
            <a:ext cx="640080" cy="274320"/>
          </a:xfrm>
          <a:prstGeom prst="round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143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检测游戏下载/更新</a:t>
            </a:r>
            <a:br/>
            <a:r>
              <a:t>推送快速上手小游戏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0515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F0A2C"/>
                </a:solidFill>
                <a:latin typeface="微软雅黑"/>
              </a:defRPr>
            </a:pPr>
            <a:r>
              <a:t>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143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连败安慰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143000"/>
            <a:ext cx="640080" cy="274320"/>
          </a:xfrm>
          <a:prstGeom prst="round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143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连续3+局失败</a:t>
            </a:r>
            <a:br/>
            <a:r>
              <a:t>推送放松治愈游戏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0515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66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CC"/>
                </a:solidFill>
                <a:latin typeface="微软雅黑"/>
              </a:defRPr>
            </a:pPr>
            <a:r>
              <a:t>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143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深夜关怀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143000"/>
            <a:ext cx="640080" cy="2743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143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22:00-06:00时段</a:t>
            </a:r>
            <a:br/>
            <a:r>
              <a:t>推送助眠呼吸游戏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8803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71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微软雅黑"/>
              </a:defRPr>
            </a:pPr>
            <a:r>
              <a:t>☀️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早安问候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2971800"/>
            <a:ext cx="640080" cy="2743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2971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06:00-09:00时段</a:t>
            </a:r>
            <a:br/>
            <a:r>
              <a:t>推送益智唤醒游戏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28803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2971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DC4"/>
                </a:solidFill>
                <a:latin typeface="微软雅黑"/>
              </a:defRPr>
            </a:pPr>
            <a:r>
              <a:t>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通勤陪伴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2971800"/>
            <a:ext cx="640080" cy="2743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2971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加速度计+时间窗口</a:t>
            </a:r>
            <a:br/>
            <a:r>
              <a:t>推送中度游戏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28803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971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F0A2C"/>
                </a:solidFill>
                <a:latin typeface="微软雅黑"/>
              </a:defRPr>
            </a:pPr>
            <a:r>
              <a:t>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无聊检测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971800"/>
            <a:ext cx="640080" cy="274320"/>
          </a:xfrm>
          <a:prstGeom prst="round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2971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低活跃+重复操作</a:t>
            </a:r>
            <a:br/>
            <a:r>
              <a:t>推送新鲜游戏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7091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633"/>
                </a:solidFill>
                <a:latin typeface="微软雅黑"/>
              </a:defRPr>
            </a:pPr>
            <a:r>
              <a:t>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卸载挽回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4800600"/>
            <a:ext cx="640080" cy="274320"/>
          </a:xfrm>
          <a:prstGeom prst="round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极高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257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卸载确认时触发</a:t>
            </a:r>
            <a:br/>
            <a:r>
              <a:t>推送经典小游戏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46120" y="47091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669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99CC"/>
                </a:solidFill>
                <a:latin typeface="微软雅黑"/>
              </a:defRPr>
            </a:pPr>
            <a:r>
              <a:t>🌧️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雨天治愈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66360" y="4800600"/>
            <a:ext cx="640080" cy="2743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5257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天气API+地理位置</a:t>
            </a:r>
            <a:br/>
            <a:r>
              <a:t>推送治愈系游戏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4709160"/>
            <a:ext cx="2697480" cy="16459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DC4"/>
                </a:solidFill>
                <a:latin typeface="微软雅黑"/>
              </a:defRPr>
            </a:pPr>
            <a:r>
              <a:t>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好友在线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4800600"/>
            <a:ext cx="640080" cy="2743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257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社交信号+好友状态</a:t>
            </a:r>
            <a:br/>
            <a:r>
              <a:t>推送互动小游戏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12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数据流图  ·  全链路数据闭环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32588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325880" cy="3200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1. 用户行为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点击/滑动/停留</a:t>
            </a:r>
            <a:br/>
            <a:r>
              <a:t>游戏选择/时长/分数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097280"/>
            <a:ext cx="132588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1097280"/>
            <a:ext cx="1325880" cy="32004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115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2. 触发评估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55448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场景信号采集</a:t>
            </a:r>
            <a:br/>
            <a:r>
              <a:t>多条件匹配决策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097280"/>
            <a:ext cx="132588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1325880" cy="320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115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3. 画像匹配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55448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6维偏好匹配</a:t>
            </a:r>
            <a:br/>
            <a:r>
              <a:t>置信度评分排序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097280"/>
            <a:ext cx="132588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097280"/>
            <a:ext cx="1325880" cy="32004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115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4. 游戏生成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55448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模板实例化</a:t>
            </a:r>
            <a:br/>
            <a:r>
              <a:t>参数动态注入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097280"/>
            <a:ext cx="132588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1325880" cy="32004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115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5. 结果反馈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55448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游戏数据采集</a:t>
            </a:r>
            <a:br/>
            <a:r>
              <a:t>体验评分记录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097280"/>
            <a:ext cx="132588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1097280"/>
            <a:ext cx="1325880" cy="3200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1115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6. 画像更新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155448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偏好权重调整</a:t>
            </a:r>
            <a:br/>
            <a:r>
              <a:t>难度曲线学习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00400"/>
            <a:ext cx="8595360" cy="25400"/>
          </a:xfrm>
          <a:prstGeom prst="rect">
            <a:avLst/>
          </a:prstGeom>
          <a:solidFill>
            <a:srgbClr val="888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⟳  持续循环优化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关键数据指标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画像维度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6维 (策略/动作/社交/创意/放松/竞技)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推荐延迟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&lt; 50ms 实时响应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学习周期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20局达到画像收敛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数据采集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50+ 行为维度实时记录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隐私保护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本地计算为主，脱敏上传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▸ TypeScript 5.9.3  核心引擎语言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▸ Event System  事件驱动架构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▸ State Machine  游戏状态管理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▸ Observer Pattern  画像更新通知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▸ Strategy Pattern  触发器策略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55"/>
                </a:solidFill>
                <a:latin typeface="微软雅黑"/>
              </a:defRPr>
            </a:pPr>
            <a:r>
              <a:t>PART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AI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微软雅黑"/>
              </a:defRPr>
            </a:pPr>
            <a:r>
              <a:t>AI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14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用户画像系统  ·  6维味道雷达图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F0A2C"/>
                </a:solidFill>
                <a:latin typeface="微软雅黑"/>
              </a:defRPr>
            </a:pPr>
            <a:r>
              <a:t>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087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微软雅黑"/>
              </a:defRPr>
            </a:pPr>
            <a: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7088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7088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微软雅黑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7088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社交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7088" y="3977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微软雅黑"/>
              </a:defRPr>
            </a:pPr>
            <a: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A55FF"/>
                </a:solidFill>
                <a:latin typeface="微软雅黑"/>
              </a:defRPr>
            </a:pPr>
            <a:r>
              <a:t>创意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800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微软雅黑"/>
              </a:defRPr>
            </a:pPr>
            <a:r>
              <a:t>CREATIVE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271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CC66"/>
                </a:solidFill>
                <a:latin typeface="微软雅黑"/>
              </a:defRPr>
            </a:pPr>
            <a:r>
              <a:t>放松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271" y="3977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微软雅黑"/>
              </a:defRPr>
            </a:pPr>
            <a:r>
              <a:t>RELAXATION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271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833"/>
                </a:solidFill>
                <a:latin typeface="微软雅黑"/>
              </a:defRPr>
            </a:pPr>
            <a:r>
              <a:t>竞技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271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微软雅黑"/>
              </a:defRPr>
            </a:pPr>
            <a:r>
              <a:t>COMPETITIVE</a:t>
            </a:r>
          </a:p>
        </p:txBody>
      </p:sp>
      <p:sp>
        <p:nvSpPr>
          <p:cNvPr id="18" name="Oval 17"/>
          <p:cNvSpPr/>
          <p:nvPr/>
        </p:nvSpPr>
        <p:spPr>
          <a:xfrm>
            <a:off x="2194560" y="2743200"/>
            <a:ext cx="731520" cy="731520"/>
          </a:xfrm>
          <a:prstGeom prst="ellipse">
            <a:avLst/>
          </a:prstGeom>
          <a:solidFill>
            <a:srgbClr val="CF0A2C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Taste</a:t>
            </a:r>
            <a:br/>
            <a:r>
              <a:t>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Taste → 游戏类型映射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754880" y="1463040"/>
          <a:ext cx="3749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9144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Taste维度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推荐游戏类型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置信度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策略 ↑↑↑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2048 / 消除 / 单词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动作 ↑↑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打地鼠 / 追光 / 弹球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社交 ↑↑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好友对战 / 接金币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创意 ↑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绘画 / 颜色识别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放松 ↑↑↑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呼吸 / 泡泡 / 消除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竞技 ↑↑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速算 / 2048 / 弹球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5029200"/>
            <a:ext cx="8229600" cy="10972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📊 画像更新机制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每局游戏结束后自动更新 | 基于指数移动平均(EMA)平滑调整 | 20局后达到稳定收敛 | 本地存储保护隐私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15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智能推荐引擎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推荐算法流程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840480" cy="68580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685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0A2C"/>
                </a:solidFill>
                <a:latin typeface="微软雅黑"/>
              </a:defRPr>
            </a:pPr>
            <a:r>
              <a:t>输入信号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用户画像 + 场景上下文 + 历史记录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03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3840480" cy="68580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73152" cy="6858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候选生成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Taste→GameType映射生成候选集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260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3840480" cy="68580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73152" cy="6858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特征提取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29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难度匹配度 + 时长适配 + 新鲜度 + 历史偏好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749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840480" cy="68580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73152" cy="68580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A55FF"/>
                </a:solidFill>
                <a:latin typeface="微软雅黑"/>
              </a:defRPr>
            </a:pPr>
            <a:r>
              <a:t>评分排序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加权评分 = Σ(wi × fi)  综合排序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572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3840480" cy="68580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73152" cy="6858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输出推荐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Top-3推荐 + 置信度 + 推荐理由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置信度评分模型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463040"/>
            <a:ext cx="4023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1572768"/>
            <a:ext cx="731520" cy="32004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15727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0.30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15361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难度匹配权重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17556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基于用户历史表现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2148840"/>
            <a:ext cx="4023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46320" y="2258568"/>
            <a:ext cx="731520" cy="32004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2585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0.25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22219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时长适配权重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24414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匹配场景可用时间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2834640"/>
            <a:ext cx="4023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46320" y="2944368"/>
            <a:ext cx="731520" cy="32004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2944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0.20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新鲜度权重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1272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避免重复推荐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3520440"/>
            <a:ext cx="4023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846320" y="3630168"/>
            <a:ext cx="731520" cy="32004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3630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0.15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3593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历史偏好权重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38130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强化正面体验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0" y="4206240"/>
            <a:ext cx="4023360" cy="54864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846320" y="4315968"/>
            <a:ext cx="731520" cy="32004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4315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0.10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多样性权重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44988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探索新类型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303520"/>
            <a:ext cx="8229600" cy="91440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394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微软雅黑"/>
              </a:defRPr>
            </a:pPr>
            <a:r>
              <a:t>💡 推荐示例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715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用户画像: 策略↑↑ + 放松↑  |  场景: 深夜23:00  |  →  推荐消除方块 (92%置信度) + 呼吸冥想 (85%置信度)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16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动态难度调节  ·  基于表现的实时调整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01168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011680" cy="6400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简单 · 初学者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CC66"/>
                </a:solidFill>
                <a:latin typeface="微软雅黑"/>
              </a:defRPr>
            </a:pPr>
            <a:r>
              <a:t>得分区间: 0-30%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3x3网格 / 慢速 / 提示多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097280"/>
            <a:ext cx="201168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097280"/>
            <a:ext cx="2011680" cy="6400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普通 · 进阶者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得分区间: 30-60%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945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4x4网格 / 中速 / 适度提示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097280"/>
            <a:ext cx="201168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097280"/>
            <a:ext cx="2011680" cy="6400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HARD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困难 · 高手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微软雅黑"/>
              </a:defRPr>
            </a:pPr>
            <a:r>
              <a:t>得分区间: 60-85%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1945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5x5网格 / 快速 / 少提示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097280"/>
            <a:ext cx="2011680" cy="22860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097280"/>
            <a:ext cx="2011680" cy="6400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EXPERT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DD"/>
                </a:solidFill>
                <a:latin typeface="微软雅黑"/>
              </a:defRPr>
            </a:pPr>
            <a:r>
              <a:t>专家 · 大师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F0A2C"/>
                </a:solidFill>
                <a:latin typeface="微软雅黑"/>
              </a:defRPr>
            </a:pPr>
            <a:r>
              <a:t>得分区间: 85-100%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1945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6x6网格 / 极速 / 无提示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📈 调节算法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411480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182880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条件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动作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幅度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连续3局得分 &gt; 80%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升级难度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+1级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连续3局得分 &lt; 30%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降低难度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-1级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单局得分 &gt; 95%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标记潜力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加速升级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连续5局波动大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维持当前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稳定观察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新用户前3局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从EASY开始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快速校准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17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学习曲线  ·  20局画像进化可视化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用户画像收敛过程 (6维度随游戏局数变化)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554480"/>
            <a:ext cx="25400" cy="2286000"/>
          </a:xfrm>
          <a:prstGeom prst="rect">
            <a:avLst/>
          </a:prstGeom>
          <a:solidFill>
            <a:srgbClr val="888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100%</a:t>
            </a:r>
            <a:br/>
            <a:br/>
            <a:r>
              <a:t>75%</a:t>
            </a:r>
            <a:br/>
            <a:br/>
            <a:r>
              <a:t>50%</a:t>
            </a:r>
            <a:br/>
            <a:br/>
            <a:r>
              <a:t>25%</a:t>
            </a:r>
            <a:br/>
            <a:br/>
            <a:r>
              <a:t>0%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840480"/>
            <a:ext cx="7132320" cy="25400"/>
          </a:xfrm>
          <a:prstGeom prst="rect">
            <a:avLst/>
          </a:prstGeom>
          <a:solidFill>
            <a:srgbClr val="888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第1局    第3局    第5局    第8局    第10局    第13局    第15局    第18局    第20局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554480"/>
            <a:ext cx="2286000" cy="2286000"/>
          </a:xfrm>
          <a:prstGeom prst="rect">
            <a:avLst/>
          </a:prstGeom>
          <a:noFill/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F0A2C"/>
                </a:solidFill>
                <a:latin typeface="微软雅黑"/>
              </a:defRPr>
            </a:pPr>
            <a:r>
              <a:t>探索期</a:t>
            </a:r>
            <a:br/>
            <a:r>
              <a:t>(1-5局)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全维度尝试</a:t>
            </a:r>
            <a:br/>
            <a:r>
              <a:t>画像波动大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2286000" cy="2286000"/>
          </a:xfrm>
          <a:prstGeom prst="rect">
            <a:avLst/>
          </a:prstGeom>
          <a:noFill/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D700"/>
                </a:solidFill>
                <a:latin typeface="微软雅黑"/>
              </a:defRPr>
            </a:pPr>
            <a:r>
              <a:t>校准期</a:t>
            </a:r>
            <a:br/>
            <a:r>
              <a:t>(6-12局)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偏好初现</a:t>
            </a:r>
            <a:br/>
            <a:r>
              <a:t>收敛趋势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554480"/>
            <a:ext cx="2286000" cy="2286000"/>
          </a:xfrm>
          <a:prstGeom prst="rect">
            <a:avLst/>
          </a:prstGeom>
          <a:noFill/>
          <a:ln w="1270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CC66"/>
                </a:solidFill>
                <a:latin typeface="微软雅黑"/>
              </a:defRPr>
            </a:pPr>
            <a:r>
              <a:t>稳定期</a:t>
            </a:r>
            <a:br/>
            <a:r>
              <a:t>(13-20局)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画像收敛</a:t>
            </a:r>
            <a:br/>
            <a:r>
              <a:t>个性化精准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🔍 关键发现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731520" cy="274320"/>
          </a:xfrm>
          <a:prstGeom prst="round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前5局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46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推荐多样化游戏类型，广泛收集偏好数据，画像置信度 &lt; 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731520" cy="27432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6-12局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57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核心偏好浮现，推荐精准度提升至70%+，开始个性化调整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15000"/>
            <a:ext cx="731520" cy="274320"/>
          </a:xfrm>
          <a:prstGeom prst="round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13-20局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6692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画像稳定收敛，推荐命中率 &gt; 85%，用户体验显著提升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126480"/>
            <a:ext cx="731520" cy="27432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126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20局后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080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进入精调阶段，微调权重，引入新奇探索避免过度拟合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18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场景感知触发  ·  多信号融合决策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840480" cy="731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F0A2C"/>
                </a:solidFill>
                <a:latin typeface="微软雅黑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微软雅黑"/>
              </a:defRPr>
            </a:pPr>
            <a:r>
              <a:t>时间信号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采集: 时段 / 星期 / 节假日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示例: 早晚通勤、深夜、午休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3840480" cy="731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DC4"/>
                </a:solidFill>
                <a:latin typeface="微软雅黑"/>
              </a:defRPr>
            </a:pPr>
            <a:r>
              <a:t>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行为信号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采集: 游戏记录 / 点击流 / 停留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示例: 下载中、连败、低活跃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3840480" cy="731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微软雅黑"/>
              </a:defRPr>
            </a:pPr>
            <a:r>
              <a:t>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情绪信号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采集: 面部表情 / 输入速度 / 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示例: 挫败、无聊、兴奋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3840480" cy="731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55FF"/>
                </a:solidFill>
                <a:latin typeface="微软雅黑"/>
              </a:defRPr>
            </a:pPr>
            <a:r>
              <a:t>🌤️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55FF"/>
                </a:solidFill>
                <a:latin typeface="微软雅黑"/>
              </a:defRPr>
            </a:pPr>
            <a:r>
              <a:t>环境信号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采集: 天气 / 位置 / 温度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示例: 下雨天、周末在家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3840480" cy="731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63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CC66"/>
                </a:solidFill>
                <a:latin typeface="微软雅黑"/>
              </a:defRPr>
            </a:pPr>
            <a: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CC66"/>
                </a:solidFill>
                <a:latin typeface="微软雅黑"/>
              </a:defRPr>
            </a:pPr>
            <a:r>
              <a:t>社交信号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采集: 好友状态 / 分享记录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示例: 好友在线、好友分享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多信号融合决策模型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463040"/>
            <a:ext cx="3931920" cy="6400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1463040"/>
            <a:ext cx="73152" cy="64008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微软雅黑"/>
              </a:defRPr>
            </a:pPr>
            <a:r>
              <a:t>信号采集层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5类信号并行采集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0299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2240280"/>
            <a:ext cx="3931920" cy="6400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2240280"/>
            <a:ext cx="73152" cy="6400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特征提取层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2532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标准化 + 归一化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807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3017520"/>
            <a:ext cx="3931920" cy="6400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54880" y="3017520"/>
            <a:ext cx="73152" cy="6400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微软雅黑"/>
              </a:defRPr>
            </a:pPr>
            <a:r>
              <a:t>权重分配层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动态权重 (0.0-1.0)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5844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3794760"/>
            <a:ext cx="3931920" cy="6400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0" y="3794760"/>
            <a:ext cx="73152" cy="64008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55FF"/>
                </a:solidFill>
                <a:latin typeface="微软雅黑"/>
              </a:defRPr>
            </a:pPr>
            <a:r>
              <a:t>融合决策层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4087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加权评分 + 阈值判定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3616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0" y="4572000"/>
            <a:ext cx="3931920" cy="6400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54880" y="4572000"/>
            <a:ext cx="73152" cy="6400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348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CC66"/>
                </a:solidFill>
                <a:latin typeface="微软雅黑"/>
              </a:defRPr>
            </a:pPr>
            <a:r>
              <a:t>触发输出层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83480" y="4864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触发/抑制/排队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532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0A2C"/>
                </a:solidFill>
                <a:latin typeface="微软雅黑"/>
              </a:defRPr>
            </a:pPr>
            <a:r>
              <a:t>💡 融合示例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806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时间=23:00(深夜) + 行为=连续3败(挫败) + 环境=雨天(低落) → 触发「深夜关怀」→ 推荐呼吸冥想 (置信度98%)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55"/>
                </a:solidFill>
                <a:latin typeface="微软雅黑"/>
              </a:defRPr>
            </a:pPr>
            <a:r>
              <a:t>PART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鸿蒙集成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微软雅黑"/>
              </a:defRPr>
            </a:pPr>
            <a:r>
              <a:t>HarmonyOS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20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HarmonyOS 元服务架构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43200" cy="47548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DC4"/>
                </a:solidFill>
                <a:latin typeface="微软雅黑"/>
              </a:defRPr>
            </a:pPr>
            <a: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免安装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元服务无需安装APK</a:t>
            </a:r>
            <a:br/>
            <a:r>
              <a:t>用户点击即可使用</a:t>
            </a:r>
            <a:br/>
            <a:r>
              <a:t>冷启动 &lt; 500ms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2377440" cy="127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Service Widget 技术底座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按需加载游戏资源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缓存策略优化体验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097280"/>
            <a:ext cx="2743200" cy="47548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DC4"/>
                </a:solidFill>
                <a:latin typeface="微软雅黑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服务卡片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37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2×2 / 2×4 桌面卡片</a:t>
            </a:r>
            <a:br/>
            <a:r>
              <a:t>实时展示游戏状态</a:t>
            </a:r>
            <a:br/>
            <a:r>
              <a:t>一键直达游戏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926080"/>
            <a:ext cx="2377440" cy="127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动态数据刷新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深色/浅色主题适配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交互式卡片操作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097280"/>
            <a:ext cx="2743200" cy="47548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DC4"/>
                </a:solidFill>
                <a:latin typeface="微软雅黑"/>
              </a:defRPr>
            </a:pPr>
            <a: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分布式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37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跨设备无缝流转</a:t>
            </a:r>
            <a:br/>
            <a:r>
              <a:t>手机/平板/手表</a:t>
            </a:r>
            <a:br/>
            <a:r>
              <a:t>数据云端同步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26080"/>
            <a:ext cx="2377440" cy="127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HarmonyOS分布式能力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设备发现与迁移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游戏进度实时同步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21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服务卡片设计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2×2 小卡片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0320" cy="256032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🎮 Genesis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今日推荐: 消除方块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DC4"/>
                </a:solidFill>
                <a:latin typeface="微软雅黑"/>
              </a:defRPr>
            </a:pPr>
            <a:r>
              <a:t>⭐ 2340分 | 🔥 3连胜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26080"/>
            <a:ext cx="1463040" cy="457200"/>
          </a:xfrm>
          <a:prstGeom prst="round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点击即玩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2×4 宽卡片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63040"/>
            <a:ext cx="4206240" cy="256032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🎮 Genesis AI 微游戏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011680"/>
            <a:ext cx="914400" cy="914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🎯 消除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606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ECDC4"/>
                </a:solidFill>
                <a:latin typeface="微软雅黑"/>
              </a:defRPr>
            </a:pPr>
            <a:r>
              <a:t>推荐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011680"/>
            <a:ext cx="914400" cy="914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🎵 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606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ECDC4"/>
                </a:solidFill>
                <a:latin typeface="微软雅黑"/>
              </a:defRPr>
            </a:pPr>
            <a:r>
              <a:t>热门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011680"/>
            <a:ext cx="914400" cy="914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🧘 呼吸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606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ECDC4"/>
                </a:solidFill>
                <a:latin typeface="微软雅黑"/>
              </a:defRPr>
            </a:pPr>
            <a:r>
              <a:t>适合你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80" y="2011680"/>
            <a:ext cx="914400" cy="91440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🎨 绘画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2606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ECDC4"/>
                </a:solidFill>
                <a:latin typeface="微软雅黑"/>
              </a:defRPr>
            </a:pPr>
            <a:r>
              <a:t>新游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108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画像准确度: 92% | 今日已玩: 3局 | 连胜: 🔥5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卡片技术规格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47548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规格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2×2 小卡片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2×4 宽卡片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尺寸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4格 (约 180×180dp)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8格 (约 180×360dp)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刷新频率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每30分钟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每15分钟 / 实时推送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显示内容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推荐游戏 + 分数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多游戏推荐 + 画像 + 统计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交互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点击打开游戏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点击选择不同游戏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主题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深色/浅色自动适配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深色/浅色自动适配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22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ArkTS 桥接方案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TypeScript引擎 → ArkTS UI层 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200400" cy="27432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DC4"/>
                </a:solidFill>
                <a:latin typeface="微软雅黑"/>
              </a:defRPr>
            </a:pPr>
            <a:r>
              <a:t>TypeScript 引擎层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MicroGameEngine (核心)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TriggerEngine (触发器)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PersonalizationEngine (AI)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TemplateFactory (模板)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15个游戏模板实现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事件系统 &amp; 状态管理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286000"/>
            <a:ext cx="1645920" cy="1097280"/>
          </a:xfrm>
          <a:prstGeom prst="roundRect">
            <a:avLst/>
          </a:prstGeom>
          <a:solidFill>
            <a:srgbClr val="CF0A2C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Bridge 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DDD"/>
                </a:solidFill>
                <a:latin typeface="微软雅黑"/>
              </a:defRPr>
            </a:pPr>
            <a:r>
              <a:t>JS↔ArkTS</a:t>
            </a:r>
            <a:br/>
            <a:r>
              <a:t>数据序列化</a:t>
            </a:r>
            <a:br/>
            <a:r>
              <a:t>方法映射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ECDC4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70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463040"/>
            <a:ext cx="3017520" cy="27432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508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ArkTS UI 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EntryAbility (入口)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GameWidget (服务卡片)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GameUI (游戏界面)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HarmonyOS API 调用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分布式能力调用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本地数据持久化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关键设计决策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411480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引擎复用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074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TypeScript引擎代码100%复用，无需重写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5029200"/>
            <a:ext cx="411480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UI原生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074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ArkTS实现原生UI，性能优于WebView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69280"/>
            <a:ext cx="411480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715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数据桥接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7150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JSON序列化 + 类型映射，零损耗通信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5669280"/>
            <a:ext cx="4114800" cy="5029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5715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渐进迁移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7150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可先WebView方案，后续迁移至ArkTS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23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EntryAbility 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645920" cy="2926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645920" cy="4572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onCreate()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F0A2C"/>
                </a:solidFill>
                <a:latin typeface="微软雅黑"/>
              </a:defRPr>
            </a:pPr>
            <a:r>
              <a:t>[初始化]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初始化引擎</a:t>
            </a:r>
            <a:br/>
            <a:r>
              <a:t>加载用户画像</a:t>
            </a:r>
            <a:br/>
            <a:r>
              <a:t>注册触发器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097280"/>
            <a:ext cx="1645920" cy="2926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1097280"/>
            <a:ext cx="1645920" cy="4572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onForeground()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[激活]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0312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检查触发条件</a:t>
            </a:r>
            <a:br/>
            <a:r>
              <a:t>生成推荐列表</a:t>
            </a:r>
            <a:br/>
            <a:r>
              <a:t>展示服务卡片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1097280"/>
            <a:ext cx="1645920" cy="2926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1097280"/>
            <a:ext cx="1645920" cy="4572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onGameStart()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700"/>
                </a:solidFill>
                <a:latin typeface="微软雅黑"/>
              </a:defRPr>
            </a:pPr>
            <a:r>
              <a:t>[游戏]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10312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实例化游戏模板</a:t>
            </a:r>
            <a:br/>
            <a:r>
              <a:t>注入个性化参数</a:t>
            </a:r>
            <a:br/>
            <a:r>
              <a:t>启动游戏循环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1097280"/>
            <a:ext cx="1645920" cy="2926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23560" y="1097280"/>
            <a:ext cx="1645920" cy="45720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onBackground()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A55FF"/>
                </a:solidFill>
                <a:latin typeface="微软雅黑"/>
              </a:defRPr>
            </a:pPr>
            <a:r>
              <a:t>[暂停]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10312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暂停游戏</a:t>
            </a:r>
            <a:br/>
            <a:r>
              <a:t>保存进度</a:t>
            </a:r>
            <a:br/>
            <a:r>
              <a:t>更新画像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097280"/>
            <a:ext cx="1645920" cy="2926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1097280"/>
            <a:ext cx="1645920" cy="4572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onDestroy()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F0A2C"/>
                </a:solidFill>
                <a:latin typeface="微软雅黑"/>
              </a:defRPr>
            </a:pPr>
            <a:r>
              <a:t>[销毁]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210312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持久化画像数据</a:t>
            </a:r>
            <a:br/>
            <a:r>
              <a:t>上报分析数据</a:t>
            </a:r>
            <a:br/>
            <a:r>
              <a:t>释放资源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97680"/>
            <a:ext cx="8595360" cy="25400"/>
          </a:xfrm>
          <a:prstGeom prst="rect">
            <a:avLst/>
          </a:prstGeom>
          <a:solidFill>
            <a:srgbClr val="888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206240"/>
            <a:ext cx="50800" cy="1524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4434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DC4"/>
                </a:solidFill>
                <a:latin typeface="微软雅黑"/>
              </a:defRPr>
            </a:pPr>
            <a:r>
              <a:t>0ms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4617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冷启动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4206240"/>
            <a:ext cx="50800" cy="1524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4434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DC4"/>
                </a:solidFill>
                <a:latin typeface="微软雅黑"/>
              </a:defRPr>
            </a:pPr>
            <a:r>
              <a:t>~200ms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617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引擎就绪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4206240"/>
            <a:ext cx="50800" cy="1524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434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DC4"/>
                </a:solidFill>
                <a:latin typeface="微软雅黑"/>
              </a:defRPr>
            </a:pPr>
            <a:r>
              <a:t>~350ms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617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推荐完成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206240"/>
            <a:ext cx="50800" cy="1524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4434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DC4"/>
                </a:solidFill>
                <a:latin typeface="微软雅黑"/>
              </a:defRPr>
            </a:pPr>
            <a:r>
              <a:t>~500ms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617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游戏就绪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4206240"/>
            <a:ext cx="50800" cy="1524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434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DC4"/>
                </a:solidFill>
                <a:latin typeface="微软雅黑"/>
              </a:defRPr>
            </a:pPr>
            <a:r>
              <a:t>&lt;500ms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617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CC"/>
                </a:solidFill>
                <a:latin typeface="微软雅黑"/>
              </a:defRPr>
            </a:pPr>
            <a:r>
              <a:t>可交互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292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⚡ 性能目标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86400"/>
            <a:ext cx="1554480" cy="7315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32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冷启动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806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500ms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48840" y="5486400"/>
            <a:ext cx="1554480" cy="7315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48840" y="5532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引擎初始化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48840" y="5806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200ms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80" y="5486400"/>
            <a:ext cx="1554480" cy="7315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0" y="5532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AI推荐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5806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50ms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32120" y="5486400"/>
            <a:ext cx="1554480" cy="7315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2120" y="5532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游戏加载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2120" y="5806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100ms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23760" y="5486400"/>
            <a:ext cx="1554480" cy="73152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23760" y="5532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画面首帧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5806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150ms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55"/>
                </a:solidFill>
                <a:latin typeface="微软雅黑"/>
              </a:defRPr>
            </a:pPr>
            <a:r>
              <a:t>PART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实现成果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微软雅黑"/>
              </a:defRPr>
            </a:pPr>
            <a:r>
              <a:t>Implementation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25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工程成果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011680" cy="12801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ECDC4"/>
                </a:solidFill>
                <a:latin typeface="微软雅黑"/>
              </a:defRPr>
            </a:pPr>
            <a:r>
              <a:t>TypeScript</a:t>
            </a:r>
            <a:br/>
            <a:r>
              <a:t>5.9.3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开发语言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005840"/>
            <a:ext cx="2011680" cy="12801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051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游戏模板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005840"/>
            <a:ext cx="2011680" cy="12801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051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F0A2C"/>
                </a:solidFill>
                <a:latin typeface="微软雅黑"/>
              </a:defRPr>
            </a:pPr>
            <a:r>
              <a:t>363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测试用例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05840"/>
            <a:ext cx="2011680" cy="12801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051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CC66"/>
                </a:solidFill>
                <a:latin typeface="微软雅黑"/>
              </a:defRPr>
            </a:pPr>
            <a:r>
              <a:t>94%+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微软雅黑"/>
              </a:defRPr>
            </a:pPr>
            <a:r>
              <a:t>代码覆盖率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📁 项目结构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src/engine/         核心引擎 (MicroGameEngine)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src/triggers/       9大触发器实现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src/ai/             AI引擎 (画像/推荐/难度)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src/templates/      15个游戏模板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src/models/         数据模型定义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src/types/          TypeScript类型系统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__tests__/          363个测试文件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57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Consolas"/>
              </a:defRPr>
            </a:pPr>
            <a:r>
              <a:t>demo/               浏览器交互Demo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🏆 质量指标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846320" y="2926080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实际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语句覆盖率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&gt; 90%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分支覆盖率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&gt; 85%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89.7%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函数覆盖率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&gt; 90%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96.1%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行覆盖率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&gt; 90%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94.8%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测试套件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&gt; 300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TypeScript严格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启用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Lint通过率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26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浏览器交互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微软雅黑"/>
              </a:defRPr>
            </a:pPr>
            <a:r>
              <a:t>10个可玩游戏 + AI Lab 面板  |  浏览器直接体验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🎮 可玩游戏 (10个)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消除方块  —  经典三消玩法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20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节奏大师  —  音符节拍挑战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翻牌配对  —  记忆力训练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呼吸冥想  —  减压放松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绘画挑战  —  限时绘画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颜色识别  —  反应速度测试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速算挑战  —  数学能力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泡泡射手  —  休闲射击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追光游戏  —  注意力训练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2048      —  策略数字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🧪 AI Lab 面板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920240"/>
            <a:ext cx="402336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9385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用户画像可视化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1214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实时6维雷达图展示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423160"/>
            <a:ext cx="402336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4414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推荐结果调试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6243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查看推荐算法中间结果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2926080"/>
            <a:ext cx="402336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9443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触发器模拟器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127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模拟不同场景触发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429000"/>
            <a:ext cx="402336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4472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难度曲线追踪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630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可视化动态难度变化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931920"/>
            <a:ext cx="402336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950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微软雅黑"/>
              </a:defRPr>
            </a:pPr>
            <a:r>
              <a:t>学习进度监控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133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20局画像进化实时展示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8229600" cy="10972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微软雅黑"/>
              </a:defRPr>
            </a:pPr>
            <a:r>
              <a:t>🌐 Demo 访问方式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40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浏览器打开 index.html 即可体验  |  支持桌面端和移动端  |  内置模拟数据可直接演示AI能力</a:t>
            </a:r>
            <a:br/>
            <a:r>
              <a:t>推荐使用 Chrome / Edge 最新版  |  移动端建议使用开发者工具的设备模拟模式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27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CI/CD 流水线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371600" cy="1828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📥 Code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F0A2C"/>
                </a:solidFill>
                <a:latin typeface="微软雅黑"/>
              </a:defRPr>
            </a:pPr>
            <a:r>
              <a:t>git push /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74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代码提交触发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097280"/>
            <a:ext cx="1371600" cy="1828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🔍 Lint &amp;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CDC4"/>
                </a:solidFill>
                <a:latin typeface="微软雅黑"/>
              </a:defRPr>
            </a:pPr>
            <a:r>
              <a:t>ESLint + tsc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74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代码质量检查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097280"/>
            <a:ext cx="1371600" cy="1828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🧪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700"/>
                </a:solidFill>
                <a:latin typeface="微软雅黑"/>
              </a:defRPr>
            </a:pPr>
            <a:r>
              <a:t>Jest 363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874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全量测试执行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097280"/>
            <a:ext cx="1371600" cy="1828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📊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94%+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874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覆盖率检查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097280"/>
            <a:ext cx="1371600" cy="1828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🏗️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55FF"/>
                </a:solidFill>
                <a:latin typeface="微软雅黑"/>
              </a:defRPr>
            </a:pPr>
            <a:r>
              <a:t>tsc + 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874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生产构建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097280"/>
            <a:ext cx="1371600" cy="1828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📦 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F0A2C"/>
                </a:solidFill>
                <a:latin typeface="微软雅黑"/>
              </a:defRPr>
            </a:pPr>
            <a:r>
              <a:t>GitHub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874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版本发布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⚙️ GitHub Actions 工作流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3657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743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工作流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触发条件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执行内容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预计耗时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CI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push/PR to main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lint + type + test + coverage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~3 min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Build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tag push (v*)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build + bundle + artifact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~2 min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Release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tag push (v*)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changelog + release + assets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~1 min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Deploy Demo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push to main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build demo + deploy pages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~2 min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57200" y="5669280"/>
            <a:ext cx="8229600" cy="54864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715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微软雅黑"/>
              </a:defRPr>
            </a:pPr>
            <a:r>
              <a:t>🔒 质量门禁: 测试全部通过 + 覆盖率 &gt; 90% + TypeScript零错误 + Lint零警告 → 才允许合并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28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性能指标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43200" cy="3017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🎮 微游戏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单个游戏体积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微软雅黑"/>
              </a:defRPr>
            </a:pPr>
            <a:r>
              <a:t>&lt; 100KB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游戏生成时间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&lt; 10ms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帧率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微软雅黑"/>
              </a:defRPr>
            </a:pPr>
            <a:r>
              <a:t>≥ 60 FPS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首帧渲染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微软雅黑"/>
              </a:defRPr>
            </a:pPr>
            <a:r>
              <a:t>&lt; 50ms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005840"/>
            <a:ext cx="2743200" cy="3017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🚀 启动性能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冷启动时间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微软雅黑"/>
              </a:defRPr>
            </a:pPr>
            <a:r>
              <a:t>&lt; 500ms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热启动时间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&lt; 100ms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743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引擎初始化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微软雅黑"/>
              </a:defRPr>
            </a:pPr>
            <a:r>
              <a:t>&lt; 200ms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337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卡片刷新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55FF"/>
                </a:solidFill>
                <a:latin typeface="微软雅黑"/>
              </a:defRPr>
            </a:pPr>
            <a:r>
              <a:t>&lt; 50ms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05840"/>
            <a:ext cx="2743200" cy="30175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🤖 AI性能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推荐计算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&lt; 50ms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画像更新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微软雅黑"/>
              </a:defRPr>
            </a:pPr>
            <a:r>
              <a:t>&lt; 10ms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743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难度调节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微软雅黑"/>
              </a:defRPr>
            </a:pPr>
            <a:r>
              <a:t>&lt; 5ms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375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触发评估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CC66"/>
                </a:solidFill>
                <a:latin typeface="微软雅黑"/>
              </a:defRPr>
            </a:pPr>
            <a:r>
              <a:t>&lt; 20ms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📊 对比传统小游戏方案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" y="466344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传统WebView方案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Genesis引擎方案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提升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启动时间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2-5秒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&lt; 500ms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4-10x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游戏体积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500KB-5MB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&lt; 100KB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5-50x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内存占用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50-200MB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&lt; 20MB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2-10x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推荐延迟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500-2000ms (云端)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&lt; 50ms (本地)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10-40x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离线能力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受限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完整支持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∞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55"/>
                </a:solidFill>
                <a:latin typeface="微软雅黑"/>
              </a:defRPr>
            </a:pPr>
            <a:r>
              <a:t>PART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发布计划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微软雅黑"/>
              </a:defRPr>
            </a:pPr>
            <a:r>
              <a:t>Release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29 / 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30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里程碑路线图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2057400" cy="50292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057400" cy="82296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241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DD"/>
                </a:solidFill>
                <a:latin typeface="微软雅黑"/>
              </a:defRPr>
            </a:pPr>
            <a:r>
              <a:t>基础引擎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当前 (MVP)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✅ TypeScript核心引擎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✅ 15个游戏模板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✅ 9大智能触发器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✅ AI画像+推荐系统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747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✅ 浏览器Demo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CC66"/>
                </a:solidFill>
                <a:latin typeface="微软雅黑"/>
              </a:defRPr>
            </a:pPr>
            <a:r>
              <a:t>✅ 363测试 94%覆盖率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1005840"/>
            <a:ext cx="2057400" cy="50292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1005840"/>
            <a:ext cx="2057400" cy="82296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10241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Phase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13258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DD"/>
                </a:solidFill>
                <a:latin typeface="微软雅黑"/>
              </a:defRPr>
            </a:pPr>
            <a:r>
              <a:t>AI+模板扩展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1554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0116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5+新游戏模板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3774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深度学习推荐模型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743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情绪识别集成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108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HarmonyOS Alpha版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4747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服务卡片实现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840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内测用户反馈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05840"/>
            <a:ext cx="2057400" cy="50292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1005840"/>
            <a:ext cx="2057400" cy="8229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10241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3258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DD"/>
                </a:solidFill>
                <a:latin typeface="微软雅黑"/>
              </a:defRPr>
            </a:pPr>
            <a:r>
              <a:t>社交+排名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1554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Q4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0116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多人对战模式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3774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全球排行榜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2743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好友系统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108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成就/徽章系统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4747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HarmonyOS Beta版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840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性能深度优化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1005840"/>
            <a:ext cx="2057400" cy="5029200"/>
          </a:xfrm>
          <a:prstGeom prst="roundRect">
            <a:avLst/>
          </a:prstGeom>
          <a:solidFill>
            <a:srgbClr val="22223E"/>
          </a:solidFill>
          <a:ln w="2540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1005840"/>
            <a:ext cx="2057400" cy="82296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10241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13258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DD"/>
                </a:solidFill>
                <a:latin typeface="微软雅黑"/>
              </a:defRPr>
            </a:pPr>
            <a:r>
              <a:t>开放平台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155448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DD"/>
                </a:solidFill>
                <a:latin typeface="微软雅黑"/>
              </a:defRPr>
            </a:pPr>
            <a:r>
              <a:t>Q1 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20116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开放API/SDK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3774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第三方模板市场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2743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创作者激励计划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108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跨平台支持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4747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HarmonyOS正式版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840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🔲 商业化运营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31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HarmonyOS 上架流程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697480" cy="2286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微软雅黑"/>
              </a:defRPr>
            </a:pPr>
            <a:r>
              <a:t>开发环境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DevEco Studio</a:t>
            </a:r>
            <a:br/>
            <a:r>
              <a:t>HarmonyOS SDK</a:t>
            </a:r>
            <a:br/>
            <a:r>
              <a:t>ArkTS开发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005840"/>
            <a:ext cx="2697480" cy="2286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114300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微软雅黑"/>
              </a:defRPr>
            </a:pPr>
            <a:r>
              <a:t>代码迁移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TS引擎桥接</a:t>
            </a:r>
            <a:br/>
            <a:r>
              <a:t>ArkTS UI实现</a:t>
            </a:r>
            <a:br/>
            <a:r>
              <a:t>服务卡片开发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05840"/>
            <a:ext cx="2697480" cy="2286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5080" y="114300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AGC配置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AppGallery Connect</a:t>
            </a:r>
            <a:br/>
            <a:r>
              <a:t>应用信息注册</a:t>
            </a:r>
            <a:br/>
            <a:r>
              <a:t>签名配置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2697480" cy="2286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55FF"/>
                </a:solidFill>
                <a:latin typeface="微软雅黑"/>
              </a:defRPr>
            </a:pPr>
            <a:r>
              <a:t>测试验证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297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真机测试</a:t>
            </a:r>
            <a:br/>
            <a:r>
              <a:t>兼容性测试</a:t>
            </a:r>
            <a:br/>
            <a:r>
              <a:t>性能测试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566160"/>
            <a:ext cx="2697480" cy="2286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74720" y="370332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微软雅黑"/>
              </a:defRPr>
            </a:pPr>
            <a:r>
              <a:t>提交审核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297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提交应用资料</a:t>
            </a:r>
            <a:br/>
            <a:r>
              <a:t>隐私政策</a:t>
            </a:r>
            <a:br/>
            <a:r>
              <a:t>内容审核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66160"/>
            <a:ext cx="2697480" cy="22860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66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5080" y="3703320"/>
            <a:ext cx="457200" cy="457200"/>
          </a:xfrm>
          <a:prstGeom prst="ellipse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CC66"/>
                </a:solidFill>
                <a:latin typeface="微软雅黑"/>
              </a:defRPr>
            </a:pPr>
            <a:r>
              <a:t>上架发布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297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审核通过</a:t>
            </a:r>
            <a:br/>
            <a:r>
              <a:t>游戏中心上架</a:t>
            </a:r>
            <a:br/>
            <a:r>
              <a:t>版本管理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32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监控与运维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057400" cy="36576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0A2C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微软雅黑"/>
              </a:defRPr>
            </a:pPr>
            <a:r>
              <a:t>性能监控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冷启动耗时 &lt; 500ms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游戏帧率 ≥ 60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14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AI推荐延迟 &lt; 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9806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内存占用 &lt; 20MB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82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实时告警阈值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1005840"/>
            <a:ext cx="2057400" cy="36576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CDC4"/>
                </a:solidFill>
                <a:latin typeface="微软雅黑"/>
              </a:defRPr>
            </a:pPr>
            <a:r>
              <a:t>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微软雅黑"/>
              </a:defRPr>
            </a:pPr>
            <a:r>
              <a:t>崩溃收集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45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崩溃率 &lt; 0.1%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0299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实时崩溃上报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414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堆栈追踪还原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79806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用户操作路径回放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182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自动分级处理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1005840"/>
            <a:ext cx="2057400" cy="36576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微软雅黑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用户分析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645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DAU/MAU 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0299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游戏偏好分布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414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触发器命中率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79806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留存率追踪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182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A/B测试平台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1005840"/>
            <a:ext cx="2057400" cy="36576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55FF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55FF"/>
                </a:solidFill>
                <a:latin typeface="微软雅黑"/>
              </a:defRPr>
            </a:pPr>
            <a:r>
              <a:t>热更新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1645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游戏模板热更新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0299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AI模型参数更新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41401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触发器规则更新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79806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灰度发布支持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182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▸ 回滚机制保障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937760"/>
            <a:ext cx="8229600" cy="118872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029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微软雅黑"/>
              </a:defRPr>
            </a:pPr>
            <a:r>
              <a:t>📋 SLA 服务等级协议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可用性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99.9%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响应时间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200ms (P99)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数据持久性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99.99%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微软雅黑"/>
              </a:defRPr>
            </a:pPr>
            <a:r>
              <a:t>故障恢复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&lt; 5min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33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商业化策略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057400" cy="3840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0A2C"/>
                </a:solidFill>
                <a:latin typeface="微软雅黑"/>
              </a:defRPr>
            </a:pPr>
            <a:r>
              <a:t>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97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微软雅黑"/>
              </a:defRPr>
            </a:pPr>
            <a:r>
              <a:t>免费基础版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核心变现引擎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874519" cy="127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15个基础游戏免费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基础AI推荐功能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每日无限次数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服务卡片完整功能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目标：用户增长 &amp; 留存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1005840"/>
            <a:ext cx="2057400" cy="3840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微软雅黑"/>
              </a:defRPr>
            </a:pPr>
            <a:r>
              <a:t>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097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广告收入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4173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主要收入来源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691640"/>
            <a:ext cx="1874519" cy="127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游戏间隙插屏广告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194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服务卡片原生广告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5603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激励视频 (复活/道具)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926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CPM/CPC混合计费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291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预计: ¥3-5 RPM/用户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005840"/>
            <a:ext cx="2057400" cy="3840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CDC4"/>
                </a:solidFill>
                <a:latin typeface="微软雅黑"/>
              </a:defRPr>
            </a:pPr>
            <a:r>
              <a:t>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1097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微软雅黑"/>
              </a:defRPr>
            </a:pPr>
            <a:r>
              <a:t>会员订阅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14173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增值服务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691640"/>
            <a:ext cx="1874519" cy="127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去广告体验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194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独家游戏模板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5603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高级AI个性化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926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数据报告与洞察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291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预计: ¥12/月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1005840"/>
            <a:ext cx="2057400" cy="3840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AA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1097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55FF"/>
                </a:solidFill>
                <a:latin typeface="微软雅黑"/>
              </a:defRPr>
            </a:pPr>
            <a:r>
              <a:t>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1097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55FF"/>
                </a:solidFill>
                <a:latin typeface="微软雅黑"/>
              </a:defRPr>
            </a:pPr>
            <a:r>
              <a:t>虚拟道具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14173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辅助变现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1691640"/>
            <a:ext cx="1874519" cy="12700"/>
          </a:xfrm>
          <a:prstGeom prst="rect">
            <a:avLst/>
          </a:prstGeom>
          <a:solidFill>
            <a:srgbClr val="AA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主题皮肤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194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特效装饰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5603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排行榜徽章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926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好友互动道具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291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微软雅黑"/>
              </a:defRPr>
            </a:pPr>
            <a:r>
              <a:t>▸ 预计: ¥1-30/项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120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📈 收入预测 (Year 1)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57200" y="54864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Q1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MAU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200万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500万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1000万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付费率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月收入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¥30万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¥180万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¥600万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¥1500万</a:t>
                      </a:r>
                    </a:p>
                  </a:txBody>
                  <a:tcPr anchor="ctr">
                    <a:solidFill>
                      <a:srgbClr val="16162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累计收入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¥90万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¥630万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¥2430万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AAACC"/>
                          </a:solidFill>
                          <a:latin typeface="微软雅黑"/>
                        </a:defRPr>
                      </a:pPr>
                      <a:r>
                        <a:t>¥6930万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  <a:latin typeface="微软雅黑"/>
              </a:defRPr>
            </a:pPr>
            <a:r>
              <a:t>Genesis — AI微游戏生成器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AA"/>
                </a:solidFill>
                <a:latin typeface="微软雅黑"/>
              </a:defRPr>
            </a:pPr>
            <a:r>
              <a:t>34 /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🏆 核心成果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804672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114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CC66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完整引擎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417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15模板 + 9触发器 + AI画像 + 动态难度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20"/>
            <a:ext cx="804672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74520"/>
            <a:ext cx="73152" cy="4114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CC66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高质量交付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920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363测试 + 94%覆盖率 + TypeScript严格模式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77440"/>
            <a:ext cx="804672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73152" cy="4114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CC66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AI能力闭环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423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画像→推荐→反馈→进化 全链路实现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80360"/>
            <a:ext cx="804672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880360"/>
            <a:ext cx="73152" cy="4114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CC66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鸿蒙适配方案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926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元服务架构 + ArkTS桥接 + 服务卡片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383280"/>
            <a:ext cx="8046720" cy="411480"/>
          </a:xfrm>
          <a:prstGeom prst="roundRect">
            <a:avLst/>
          </a:prstGeom>
          <a:solidFill>
            <a:srgbClr val="22223E"/>
          </a:solidFill>
          <a:ln w="63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383280"/>
            <a:ext cx="73152" cy="411480"/>
          </a:xfrm>
          <a:prstGeom prst="rect">
            <a:avLst/>
          </a:prstGeom>
          <a:solidFill>
            <a:srgbClr val="66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CC66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浏览器Demo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429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10个可玩游戏 + AI Lab调试面板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🌟 未来愿景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▸ 让游戏无处不在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每个等待、每个碎片时间，都有专属游戏陪伴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▸ AI驱动的游戏生态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983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千人千面的游戏体验，越玩越懂你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▸ 鸿蒙原生游戏引擎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成为HarmonyOS小游戏的事实标准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微软雅黑"/>
              </a:defRPr>
            </a:pPr>
            <a:r>
              <a:t>▸ 开放平台战略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微软雅黑"/>
              </a:defRPr>
            </a:pPr>
            <a:r>
              <a:t>赋能开发者，共建微游戏生态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548640"/>
          </a:xfrm>
          <a:prstGeom prst="roundRect">
            <a:avLst/>
          </a:prstGeom>
          <a:noFill/>
          <a:ln w="25400">
            <a:solidFill>
              <a:srgbClr val="CF0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F0A2C"/>
                </a:solidFill>
                <a:latin typeface="微软雅黑"/>
              </a:defRPr>
            </a:pPr>
            <a:r>
              <a:t>◆  GENESIS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700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49039"/>
            <a:ext cx="2743200" cy="254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ECDC4"/>
                </a:solidFill>
                <a:latin typeface="微软雅黑"/>
              </a:defRPr>
            </a:pPr>
            <a:r>
              <a:t>让每个等待时刻都变成游戏时刻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微软雅黑"/>
              </a:defRPr>
            </a:pPr>
            <a:r>
              <a:t>📧  genesis-engine@example.com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微软雅黑"/>
              </a:defRPr>
            </a:pPr>
            <a:r>
              <a:t>🌐  github.com/genesis-ai-micro-game-engine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微软雅黑"/>
              </a:defRPr>
            </a:pPr>
            <a:r>
              <a:t>📱  华为游戏中心 × 鸿蒙元服务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微软雅黑"/>
              </a:defRPr>
            </a:pPr>
            <a:r>
              <a:t>Genesis AI Micro-Game Engine  |  Version 2.0 MVP  | 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